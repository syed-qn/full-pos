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EC543-E794-E440-1673-7B54D9E9B64F}" v="5" dt="2026-06-24T10:06:48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10dd857e-1530-4823-9959-8a9c29373d7e::" providerId="AD" clId="Web-{F1CEC543-E794-E440-1673-7B54D9E9B64F}"/>
    <pc:docChg chg="modSld">
      <pc:chgData name="Guest User" userId="S::urn:spo:tenantanon#10dd857e-1530-4823-9959-8a9c29373d7e::" providerId="AD" clId="Web-{F1CEC543-E794-E440-1673-7B54D9E9B64F}" dt="2026-06-24T10:06:48.774" v="2" actId="20577"/>
      <pc:docMkLst>
        <pc:docMk/>
      </pc:docMkLst>
      <pc:sldChg chg="modSp">
        <pc:chgData name="Guest User" userId="S::urn:spo:tenantanon#10dd857e-1530-4823-9959-8a9c29373d7e::" providerId="AD" clId="Web-{F1CEC543-E794-E440-1673-7B54D9E9B64F}" dt="2026-06-24T10:06:48.774" v="2" actId="20577"/>
        <pc:sldMkLst>
          <pc:docMk/>
          <pc:sldMk cId="0" sldId="258"/>
        </pc:sldMkLst>
        <pc:spChg chg="mod">
          <ac:chgData name="Guest User" userId="S::urn:spo:tenantanon#10dd857e-1530-4823-9959-8a9c29373d7e::" providerId="AD" clId="Web-{F1CEC543-E794-E440-1673-7B54D9E9B64F}" dt="2026-06-24T10:06:48.774" v="2" actId="20577"/>
          <ac:spMkLst>
            <pc:docMk/>
            <pc:sldMk cId="0" sldId="258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999" y="1828800"/>
            <a:ext cx="1315329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29248" y="182880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C2C8D2"/>
                </a:solidFill>
                <a:latin typeface="Segoe UI"/>
              </a:rPr>
              <a:t>x</a:t>
            </a:r>
          </a:p>
        </p:txBody>
      </p:sp>
      <p:pic>
        <p:nvPicPr>
          <p:cNvPr id="5" name="Picture 4" descr="logoCI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368" y="1828800"/>
            <a:ext cx="1391328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38247" y="416052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0" i="0">
                <a:solidFill>
                  <a:srgbClr val="5B6573"/>
                </a:solidFill>
                <a:latin typeface="Segoe UI"/>
              </a:rPr>
              <a:t>A short look at how Cratis and CatalystIQ could work together to bring restaurants their own ordering and delivery.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208" y="466344"/>
            <a:ext cx="324964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11900" y="466344"/>
            <a:ext cx="14859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9AA3B0"/>
                </a:solidFill>
                <a:latin typeface="Segoe UI"/>
              </a:rPr>
              <a:t>x</a:t>
            </a:r>
          </a:p>
        </p:txBody>
      </p:sp>
      <p:pic>
        <p:nvPicPr>
          <p:cNvPr id="5" name="Picture 4" descr="logoCI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218" y="466344"/>
            <a:ext cx="34374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8412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>
                <a:solidFill>
                  <a:srgbClr val="F5611E"/>
                </a:solidFill>
                <a:latin typeface="Segoe UI"/>
              </a:rPr>
              <a:t>WHO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 i="0">
                <a:solidFill>
                  <a:srgbClr val="1F2937"/>
                </a:solidFill>
                <a:latin typeface="Segoe UI"/>
              </a:rPr>
              <a:t>About CatalystIQ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An AI integration and data analytics company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(catalystiq.ae).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We build AI automation, analytics and digital marketing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for businesses on AWS and Azure, including WhatsApp automation.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Fidras (fidras.com) is our proof.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An ecommerce automation product used by 200+ installers today.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This restaurant platform is our newest product.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Already live on real WhatsApp orders, not a demo.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Based in Dubai, working beyond it.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A Dubai company that serves clients across the region and internationally.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How we work is open and simple.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A pilot first, the real numbers shared with you, and no lock 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208" y="466344"/>
            <a:ext cx="324964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11900" y="466344"/>
            <a:ext cx="14859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9AA3B0"/>
                </a:solidFill>
                <a:latin typeface="Segoe UI"/>
              </a:rPr>
              <a:t>x</a:t>
            </a:r>
          </a:p>
        </p:txBody>
      </p:sp>
      <p:pic>
        <p:nvPicPr>
          <p:cNvPr id="5" name="Picture 4" descr="logoCI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218" y="466344"/>
            <a:ext cx="34374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8412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>
                <a:solidFill>
                  <a:srgbClr val="F5611E"/>
                </a:solidFill>
                <a:latin typeface="Segoe UI"/>
              </a:rPr>
              <a:t>WHAT MAKES US DIFFERENT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 i="0">
                <a:solidFill>
                  <a:srgbClr val="1F2937"/>
                </a:solidFill>
                <a:latin typeface="Segoe UI"/>
              </a:rPr>
              <a:t>How we differ from the tools in the market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515600" cy="3770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Most tools are just chatbots.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They take a message and stop. We run the whole order to the door: ordering, kitchen, delivery and live tracking.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Aggregators charge 20 to 30 percent and own the customer.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With us the restaurant keeps the customer and the full margin. Cash on delivery, no commission per order.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Others sell a setup and walk away.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We run the delivery itself: riders assigned automatically, nearby orders batched, a 40 minute promise, the customer watching the rider on a live map.</a:t>
            </a:r>
            <a:endParaRPr sz="1900" b="0" i="0">
              <a:solidFill>
                <a:srgbClr val="5B6573"/>
              </a:solidFill>
              <a:latin typeface="Segoe UI"/>
              <a:cs typeface="Segoe UI"/>
            </a:endParaRP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We add a marketing engine on top.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Promo images and short videos on demand for offers and new dishes. Most tools have nothing like it.</a:t>
            </a:r>
            <a:r>
              <a:rPr sz="1250" b="1" i="0">
                <a:solidFill>
                  <a:srgbClr val="B45309"/>
                </a:solidFill>
                <a:latin typeface="Segoe UI"/>
              </a:rPr>
              <a:t>  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We keep it updated, always.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Most tools are sold once and then forgotten. We keep improving the product as the market, the tech and the rules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208" y="466344"/>
            <a:ext cx="324964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11900" y="466344"/>
            <a:ext cx="14859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9AA3B0"/>
                </a:solidFill>
                <a:latin typeface="Segoe UI"/>
              </a:rPr>
              <a:t>x</a:t>
            </a:r>
          </a:p>
        </p:txBody>
      </p:sp>
      <p:pic>
        <p:nvPicPr>
          <p:cNvPr id="5" name="Picture 4" descr="logoCI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218" y="466344"/>
            <a:ext cx="34374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8412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>
                <a:solidFill>
                  <a:srgbClr val="F5611E"/>
                </a:solidFill>
                <a:latin typeface="Segoe UI"/>
              </a:rPr>
              <a:t>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 i="0">
                <a:solidFill>
                  <a:srgbClr val="1F2937"/>
                </a:solidFill>
                <a:latin typeface="Segoe UI"/>
              </a:rPr>
              <a:t>Why integrate our automation into Cratis 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New recurring revenue.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Turn a one time POS sale into a monthly subscription, from restaurants you already have. No new sales team needed.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A stronger, stickier POS.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Restaurants get ordering, delivery and marketing without ever leaving Cratis, so they have more reason to stay with you.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Nothing for you to build.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The engine is already built and going live soon. You integrate it, we run and support it. No build cost and no risk on your side.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You keep the relationship.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It lives inside your POS, under your brand. The restaurant stays your customer, not ours.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You stay ahead of other POS vendors.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Be the first POS in the UAE that brings restaurants their own ordering and delivery, not just billing.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208" y="466344"/>
            <a:ext cx="324964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11900" y="466344"/>
            <a:ext cx="14859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9AA3B0"/>
                </a:solidFill>
                <a:latin typeface="Segoe UI"/>
              </a:rPr>
              <a:t>x</a:t>
            </a:r>
          </a:p>
        </p:txBody>
      </p:sp>
      <p:pic>
        <p:nvPicPr>
          <p:cNvPr id="5" name="Picture 4" descr="logoCI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218" y="466344"/>
            <a:ext cx="343740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8412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1" i="0">
                <a:solidFill>
                  <a:srgbClr val="F5611E"/>
                </a:solidFill>
                <a:latin typeface="Segoe UI"/>
              </a:rPr>
              <a:t>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88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300" b="1" i="0">
                <a:solidFill>
                  <a:srgbClr val="1F2937"/>
                </a:solidFill>
                <a:latin typeface="Segoe UI"/>
              </a:rPr>
              <a:t>How it works, and how it pays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We connect to Cratis POS.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Orders flow straight into the POS your staff already use. Your developer and ours, together.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Restaurants go live on their own WhatsApp.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Menu digitized in a day, ordering and their own delivery switched on.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The marketing layer keeps them paying.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Promo images and short videos every month give the restaurant a reason to stay subscribed.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The money is a simple monthly subscription per restaurant.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Cratis bills the restaurant, and we share the recurring revenue.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2100" b="1" i="0">
                <a:solidFill>
                  <a:srgbClr val="1F8FE0"/>
                </a:solidFill>
                <a:latin typeface="Segoe UI"/>
              </a:rPr>
              <a:t>▪  </a:t>
            </a:r>
            <a:r>
              <a:rPr sz="1900" b="1" i="0">
                <a:solidFill>
                  <a:srgbClr val="1F2937"/>
                </a:solidFill>
                <a:latin typeface="Segoe UI"/>
              </a:rPr>
              <a:t>It pays for itself. </a:t>
            </a:r>
            <a:r>
              <a:rPr sz="1900" b="0" i="0">
                <a:solidFill>
                  <a:srgbClr val="5B6573"/>
                </a:solidFill>
                <a:latin typeface="Segoe UI"/>
              </a:rPr>
              <a:t>The restaurant saves the 20 to 30 percent it loses to aggregators today, so the fee is easy to justify, and you earn every month instead of once.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0999" y="1691640"/>
            <a:ext cx="1315329" cy="1554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29248" y="169164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 i="0">
                <a:solidFill>
                  <a:srgbClr val="C2C8D2"/>
                </a:solidFill>
                <a:latin typeface="Segoe UI"/>
              </a:rPr>
              <a:t>x</a:t>
            </a:r>
          </a:p>
        </p:txBody>
      </p:sp>
      <p:pic>
        <p:nvPicPr>
          <p:cNvPr id="5" name="Picture 4" descr="logoCI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368" y="1691640"/>
            <a:ext cx="1391328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23847" y="3977639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2200" b="0" i="0">
                <a:solidFill>
                  <a:srgbClr val="1F2937"/>
                </a:solidFill>
                <a:latin typeface="Segoe UI"/>
              </a:rPr>
              <a:t>Thank you for your time.</a:t>
            </a:r>
          </a:p>
          <a:p>
            <a:pPr algn="ctr">
              <a:lnSpc>
                <a:spcPct val="140000"/>
              </a:lnSpc>
            </a:pPr>
            <a:r>
              <a:rPr sz="2200" b="0" i="0">
                <a:solidFill>
                  <a:srgbClr val="1F2937"/>
                </a:solidFill>
                <a:latin typeface="Segoe UI"/>
              </a:rPr>
              <a:t>We look forward to what we might build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47207" y="4983480"/>
            <a:ext cx="1097280" cy="54864"/>
          </a:xfrm>
          <a:prstGeom prst="roundRect">
            <a:avLst/>
          </a:prstGeom>
          <a:solidFill>
            <a:srgbClr val="F56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23847" y="52578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1F2937"/>
                </a:solidFill>
                <a:latin typeface="Segoe UI"/>
              </a:rPr>
              <a:t>CatalystIQ</a:t>
            </a:r>
          </a:p>
          <a:p>
            <a:pPr algn="ctr">
              <a:spcBef>
                <a:spcPts val="400"/>
              </a:spcBef>
            </a:pPr>
            <a:r>
              <a:rPr sz="1600" b="0" i="0">
                <a:solidFill>
                  <a:srgbClr val="5B6573"/>
                </a:solidFill>
                <a:latin typeface="Segoe UI"/>
              </a:rPr>
              <a:t>catalystiq.ae   ·   info@catalystiq.ae   ·   +971 58 599 7894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2026-06-24T10:07:22Z</dcterms:modified>
  <cp:category/>
</cp:coreProperties>
</file>